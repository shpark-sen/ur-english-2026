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영어 교과서에 나오는 block이 무엇인지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2~3명에게 불광역에서 학교까지 가는 길을 말로 설명하게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설명에는 "쭉", "꺾어요"처럼 얼마나, 어느 쪽인지 분명하지 않은 말이 많다는 점을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"쭉 가다가"는 얼마나 가야 하는지 알 수 없어서, 길을 처음 가는 사람에게는 어렵다는 점을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우리는 은행, 놀이터, 시청처럼 장소를 기준으로 설명합니다. 영어 교과서에는 block이 자주 나오는 이유를 함께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노란 네모로 표시한 한 칸이 block입니다. 오른쪽 사진처럼 가까이서 보면 건물 여러 채가 모여 하나의 덩어리를 이루고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재미있는 이야기: 뉴욕은 원래 네덜란드 사람들이 세운 도시였는데, 영국이 차지한 뒤 요크 공작(훗날 영국 왕)의 이름을 따서 New York이라고 불렀어요.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한국어로는 "구역", "블록"이라고 해요. 길과 길 사이에 있는 네모 한 칸이라고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출발점에서 손가락으로 길을 따라가며 "one block, two blocks"를 함께 세어 봅니다. 두 번째 사거리에서 오른쪽으로 돌면 왼편에 있는 ★이 도착지예요.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지도에서 사거리를 하나씩 짚으며 블록 수를 세어 봅니다. 우리 동네처럼 길이 반듯하지 않은 곳은 블록을 세기 어렵다는 점도 자연스럽게 이야기할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정답은 다음 장에 있어요. 학생들이 문장을 소리 내어 읽으며 손가락으로 길을 따라가게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블록 직진 → 첫 번째 사거리에서 왼쪽으로 → 오른편(북쪽)에 있는 ①이 정답입니다. ②는 왼편, ③은 오른쪽으로 돌았을 때의 위치예요.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외국 사람들은 길을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어떻게 설명할까요?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Block(블록) 알아보기</a:t>
            </a:r>
            <a:endParaRPr lang="en-US" sz="2000" dirty="0"/>
          </a:p>
        </p:txBody>
      </p:sp>
      <p:sp>
        <p:nvSpPr>
          <p:cNvPr id="4" name="tile"/>
          <p:cNvSpPr/>
          <p:nvPr/>
        </p:nvSpPr>
        <p:spPr>
          <a:xfrm>
            <a:off x="6035040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5" name="tile"/>
          <p:cNvSpPr/>
          <p:nvPr/>
        </p:nvSpPr>
        <p:spPr>
          <a:xfrm>
            <a:off x="7104888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6" name="tile"/>
          <p:cNvSpPr/>
          <p:nvPr/>
        </p:nvSpPr>
        <p:spPr>
          <a:xfrm>
            <a:off x="8174736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7" name="tile"/>
          <p:cNvSpPr/>
          <p:nvPr/>
        </p:nvSpPr>
        <p:spPr>
          <a:xfrm>
            <a:off x="6035040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8" name="tile"/>
          <p:cNvSpPr/>
          <p:nvPr/>
        </p:nvSpPr>
        <p:spPr>
          <a:xfrm>
            <a:off x="7104888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9" name="tile"/>
          <p:cNvSpPr/>
          <p:nvPr/>
        </p:nvSpPr>
        <p:spPr>
          <a:xfrm>
            <a:off x="8174736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0" name="tile"/>
          <p:cNvSpPr/>
          <p:nvPr/>
        </p:nvSpPr>
        <p:spPr>
          <a:xfrm>
            <a:off x="6035040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1" name="tile"/>
          <p:cNvSpPr/>
          <p:nvPr/>
        </p:nvSpPr>
        <p:spPr>
          <a:xfrm>
            <a:off x="7104888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2" name="tile"/>
          <p:cNvSpPr/>
          <p:nvPr/>
        </p:nvSpPr>
        <p:spPr>
          <a:xfrm>
            <a:off x="8174736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불광역에서 어울초등학교까지 어떻게 가요?</a:t>
            </a:r>
            <a:endParaRPr lang="en-US" sz="2800" dirty="0"/>
          </a:p>
        </p:txBody>
      </p:sp>
      <p:pic>
        <p:nvPicPr>
          <p:cNvPr id="3" name="map" descr="/tmp/claude-0/-home-claude/b613c36a-8715-5aae-a973-8ccf6c9c2cbb/scratchpad/blk/medi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94960" cy="32918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card"/>
          <p:cNvSpPr/>
          <p:nvPr/>
        </p:nvSpPr>
        <p:spPr>
          <a:xfrm>
            <a:off x="6126480" y="114300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?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친구에게 길을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설명해 볼까요?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35204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지도를 보지 않고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말로만 설명해요!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우리는 보통 이렇게 설명해요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8463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“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혁신파크 쪽으로 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쭉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 내려가서,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놀이터 나오는 공원에서 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꺾어요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그리고 </a:t>
            </a:r>
            <a:pPr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쭉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 들어가요.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5577840" y="118872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5577840" y="1188720"/>
            <a:ext cx="3108960" cy="1508760"/>
          </a:xfrm>
          <a:prstGeom prst="roundRect">
            <a:avLst>
              <a:gd name="adj" fmla="val 7273"/>
            </a:avLst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8" name="num"/>
          <p:cNvSpPr/>
          <p:nvPr/>
        </p:nvSpPr>
        <p:spPr>
          <a:xfrm>
            <a:off x="5806440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‘쭉’은 얼마나요?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65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100m? 1km?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577840" y="2880360"/>
            <a:ext cx="31089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7840" y="2880360"/>
            <a:ext cx="3108960" cy="1508760"/>
          </a:xfrm>
          <a:prstGeom prst="roundRect">
            <a:avLst>
              <a:gd name="adj" fmla="val 7273"/>
            </a:avLst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13" name="num"/>
          <p:cNvSpPr/>
          <p:nvPr/>
        </p:nvSpPr>
        <p:spPr>
          <a:xfrm>
            <a:off x="580644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어느 쪽으로 꺾어요?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657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왼쪽? 오른쪽?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교과서 속 길 안내도 비슷해요</a:t>
            </a:r>
            <a:endParaRPr lang="en-US" sz="2800" dirty="0"/>
          </a:p>
        </p:txBody>
      </p:sp>
      <p:pic>
        <p:nvPicPr>
          <p:cNvPr id="3" name="textbook" descr="/tmp/claude-0/-home-claude/b613c36a-8715-5aae-a973-8ccf6c9c2cbb/scratchpad/blk/media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7315200" cy="206654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얼마나 ‘쭉’ 가야 하나요?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663440" y="3520440"/>
            <a:ext cx="40233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길을 몰라서 물어본 건데…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감이 안 와요!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우리는 ‘장소’를 보며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길을 설명해요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그런데 영어책에는 왜 block이 나올까요?</a:t>
            </a:r>
            <a:endParaRPr lang="en-US" sz="2000" dirty="0"/>
          </a:p>
        </p:txBody>
      </p:sp>
      <p:sp>
        <p:nvSpPr>
          <p:cNvPr id="4" name="tile"/>
          <p:cNvSpPr/>
          <p:nvPr/>
        </p:nvSpPr>
        <p:spPr>
          <a:xfrm>
            <a:off x="6035040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5" name="tile"/>
          <p:cNvSpPr/>
          <p:nvPr/>
        </p:nvSpPr>
        <p:spPr>
          <a:xfrm>
            <a:off x="7104888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6" name="tile"/>
          <p:cNvSpPr/>
          <p:nvPr/>
        </p:nvSpPr>
        <p:spPr>
          <a:xfrm>
            <a:off x="8174736" y="914400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</p:sp>
      <p:sp>
        <p:nvSpPr>
          <p:cNvPr id="7" name="tile"/>
          <p:cNvSpPr/>
          <p:nvPr/>
        </p:nvSpPr>
        <p:spPr>
          <a:xfrm>
            <a:off x="6035040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8" name="tile"/>
          <p:cNvSpPr/>
          <p:nvPr/>
        </p:nvSpPr>
        <p:spPr>
          <a:xfrm>
            <a:off x="7104888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9" name="tile"/>
          <p:cNvSpPr/>
          <p:nvPr/>
        </p:nvSpPr>
        <p:spPr>
          <a:xfrm>
            <a:off x="8174736" y="1984248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0" name="tile"/>
          <p:cNvSpPr/>
          <p:nvPr/>
        </p:nvSpPr>
        <p:spPr>
          <a:xfrm>
            <a:off x="6035040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1" name="tile"/>
          <p:cNvSpPr/>
          <p:nvPr/>
        </p:nvSpPr>
        <p:spPr>
          <a:xfrm>
            <a:off x="7104888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  <p:sp>
        <p:nvSpPr>
          <p:cNvPr id="12" name="tile"/>
          <p:cNvSpPr/>
          <p:nvPr/>
        </p:nvSpPr>
        <p:spPr>
          <a:xfrm>
            <a:off x="8174736" y="3054096"/>
            <a:ext cx="868680" cy="868680"/>
          </a:xfrm>
          <a:prstGeom prst="roundRect">
            <a:avLst>
              <a:gd name="adj" fmla="val 8421"/>
            </a:avLst>
          </a:prstGeom>
          <a:solidFill>
            <a:schemeClr val="tx2">
              <a:alpha val="60000"/>
            </a:scheme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하늘에서 본 스페인 바르셀로나</a:t>
            </a:r>
            <a:endParaRPr lang="en-US" sz="2800" dirty="0"/>
          </a:p>
        </p:txBody>
      </p:sp>
      <p:pic>
        <p:nvPicPr>
          <p:cNvPr id="3" name="barcelona" descr="/tmp/claude-0/-home-claude/b613c36a-8715-5aae-a973-8ccf6c9c2cbb/scratchpad/blk/media/ppt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94960" cy="323697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480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Barcelona, Spain</a:t>
            </a:r>
            <a:endParaRPr lang="en-US" sz="1200" dirty="0"/>
          </a:p>
        </p:txBody>
      </p:sp>
      <p:sp>
        <p:nvSpPr>
          <p:cNvPr id="5" name="card"/>
          <p:cNvSpPr/>
          <p:nvPr/>
        </p:nvSpPr>
        <p:spPr>
          <a:xfrm>
            <a:off x="6126480" y="1143000"/>
            <a:ext cx="2560320" cy="3236976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6" name="tile"/>
          <p:cNvSpPr/>
          <p:nvPr/>
        </p:nvSpPr>
        <p:spPr>
          <a:xfrm>
            <a:off x="6720840" y="14630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tile"/>
          <p:cNvSpPr/>
          <p:nvPr/>
        </p:nvSpPr>
        <p:spPr>
          <a:xfrm>
            <a:off x="7178040" y="14630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8" name="tile"/>
          <p:cNvSpPr/>
          <p:nvPr/>
        </p:nvSpPr>
        <p:spPr>
          <a:xfrm>
            <a:off x="7635240" y="14630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tile"/>
          <p:cNvSpPr/>
          <p:nvPr/>
        </p:nvSpPr>
        <p:spPr>
          <a:xfrm>
            <a:off x="672084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0" name="tile"/>
          <p:cNvSpPr/>
          <p:nvPr/>
        </p:nvSpPr>
        <p:spPr>
          <a:xfrm>
            <a:off x="717804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1" name="tile"/>
          <p:cNvSpPr/>
          <p:nvPr/>
        </p:nvSpPr>
        <p:spPr>
          <a:xfrm>
            <a:off x="7635240" y="19202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2" name="tile"/>
          <p:cNvSpPr/>
          <p:nvPr/>
        </p:nvSpPr>
        <p:spPr>
          <a:xfrm>
            <a:off x="6720840" y="23774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3" name="tile"/>
          <p:cNvSpPr/>
          <p:nvPr/>
        </p:nvSpPr>
        <p:spPr>
          <a:xfrm>
            <a:off x="7178040" y="23774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4" name="tile"/>
          <p:cNvSpPr/>
          <p:nvPr/>
        </p:nvSpPr>
        <p:spPr>
          <a:xfrm>
            <a:off x="7635240" y="2377440"/>
            <a:ext cx="365760" cy="365760"/>
          </a:xfrm>
          <a:prstGeom prst="roundRect">
            <a:avLst>
              <a:gd name="adj" fmla="val 20000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길이 반듯반듯!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383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도시가 바둑판처럼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네모난 칸으로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나뉘어 있어요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네모 한 칸이 바로 block이에요</a:t>
            </a:r>
            <a:endParaRPr lang="en-US" sz="2800" dirty="0"/>
          </a:p>
        </p:txBody>
      </p:sp>
      <p:pic>
        <p:nvPicPr>
          <p:cNvPr id="3" name="satellite" descr="/tmp/claude-0/-home-claude/b613c36a-8715-5aae-a973-8ccf6c9c2cbb/scratchpad/blk/media/ppt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999232" cy="35661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highlight"/>
          <p:cNvSpPr/>
          <p:nvPr/>
        </p:nvSpPr>
        <p:spPr>
          <a:xfrm>
            <a:off x="2556662" y="2095805"/>
            <a:ext cx="749808" cy="748894"/>
          </a:xfrm>
          <a:prstGeom prst="roundRect">
            <a:avLst>
              <a:gd name="adj" fmla="val 9768"/>
            </a:avLst>
          </a:prstGeom>
          <a:ln w="508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70916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위에서 본 모습</a:t>
            </a:r>
            <a:endParaRPr lang="en-US" sz="1200" dirty="0"/>
          </a:p>
        </p:txBody>
      </p:sp>
      <p:pic>
        <p:nvPicPr>
          <p:cNvPr id="6" name="block3d" descr="/tmp/claude-0/-home-claude/b613c36a-8715-5aae-a973-8ccf6c9c2cbb/scratchpad/blk/media/ppt/media/image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097280"/>
            <a:ext cx="4937760" cy="26791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3749040" y="393192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가까이서 보면? </a:t>
            </a:r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건물 여러 채가 모인 한 덩어리 = 1 block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미국 뉴욕도 바둑판 모양이에요</a:t>
            </a:r>
            <a:endParaRPr lang="en-US" sz="2800" dirty="0"/>
          </a:p>
        </p:txBody>
      </p:sp>
      <p:pic>
        <p:nvPicPr>
          <p:cNvPr id="3" name="nyc" descr="/tmp/claude-0/-home-claude/b613c36a-8715-5aae-a973-8ccf6c9c2cbb/scratchpad/blk/media/ppt/media/image9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2532888" cy="37490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num"/>
          <p:cNvSpPr/>
          <p:nvPr/>
        </p:nvSpPr>
        <p:spPr>
          <a:xfrm>
            <a:off x="347472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114800" y="1216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길이 반듯하게 쭉쭉 나 있어요</a:t>
            </a:r>
            <a:endParaRPr lang="en-US" sz="1800" dirty="0"/>
          </a:p>
        </p:txBody>
      </p:sp>
      <p:sp>
        <p:nvSpPr>
          <p:cNvPr id="6" name="num"/>
          <p:cNvSpPr/>
          <p:nvPr/>
        </p:nvSpPr>
        <p:spPr>
          <a:xfrm>
            <a:off x="347472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2404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길마다 번호가 붙어 있어요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1st Street, 2nd Street, 3rd Street …</a:t>
            </a:r>
            <a:endParaRPr lang="en-US" sz="1500" dirty="0"/>
          </a:p>
        </p:txBody>
      </p:sp>
      <p:sp>
        <p:nvSpPr>
          <p:cNvPr id="9" name="num"/>
          <p:cNvSpPr/>
          <p:nvPr/>
        </p:nvSpPr>
        <p:spPr>
          <a:xfrm>
            <a:off x="347472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3593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그래서 블록 수로 길을 알려 줘요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“Go straight two blocks.”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Block이란?</a:t>
            </a:r>
            <a:endParaRPr lang="en-US" sz="2800" dirty="0"/>
          </a:p>
        </p:txBody>
      </p:sp>
      <p:sp>
        <p:nvSpPr>
          <p:cNvPr id="3" name="roads"/>
          <p:cNvSpPr/>
          <p:nvPr/>
        </p:nvSpPr>
        <p:spPr>
          <a:xfrm>
            <a:off x="457200" y="1188720"/>
            <a:ext cx="4251960" cy="2651760"/>
          </a:xfrm>
          <a:prstGeom prst="roundRect">
            <a:avLst>
              <a:gd name="adj" fmla="val 3448"/>
            </a:avLst>
          </a:prstGeom>
          <a:solidFill>
            <a:schemeClr val="accent4"/>
          </a:solidFill>
          <a:ln/>
        </p:spPr>
      </p:sp>
      <p:sp>
        <p:nvSpPr>
          <p:cNvPr id="4" name="block 0,0"/>
          <p:cNvSpPr/>
          <p:nvPr/>
        </p:nvSpPr>
        <p:spPr>
          <a:xfrm>
            <a:off x="731520" y="146304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block 1,0"/>
          <p:cNvSpPr/>
          <p:nvPr/>
        </p:nvSpPr>
        <p:spPr>
          <a:xfrm>
            <a:off x="2057400" y="146304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block 2,0"/>
          <p:cNvSpPr/>
          <p:nvPr/>
        </p:nvSpPr>
        <p:spPr>
          <a:xfrm>
            <a:off x="3383280" y="146304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block 0,1"/>
          <p:cNvSpPr/>
          <p:nvPr/>
        </p:nvSpPr>
        <p:spPr>
          <a:xfrm>
            <a:off x="731520" y="265176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block 1,1"/>
          <p:cNvSpPr/>
          <p:nvPr/>
        </p:nvSpPr>
        <p:spPr>
          <a:xfrm>
            <a:off x="2057400" y="265176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block 2,1"/>
          <p:cNvSpPr/>
          <p:nvPr/>
        </p:nvSpPr>
        <p:spPr>
          <a:xfrm>
            <a:off x="3383280" y="265176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mark 1 block"/>
          <p:cNvSpPr/>
          <p:nvPr/>
        </p:nvSpPr>
        <p:spPr>
          <a:xfrm>
            <a:off x="2057400" y="1463040"/>
            <a:ext cx="1051560" cy="9144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block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= 길(도로)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029200" y="1188720"/>
            <a:ext cx="365760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12618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길로 둘러싸인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네모난 한 구역</a:t>
            </a:r>
            <a:endParaRPr lang="en-US" sz="2000" dirty="0"/>
          </a:p>
        </p:txBody>
      </p:sp>
      <p:sp>
        <p:nvSpPr>
          <p:cNvPr id="15" name="num"/>
          <p:cNvSpPr/>
          <p:nvPr/>
        </p:nvSpPr>
        <p:spPr>
          <a:xfrm>
            <a:off x="5029200" y="256032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2514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건물이 여러 채 모여 있어요</a:t>
            </a:r>
            <a:endParaRPr lang="en-US" sz="1600" dirty="0"/>
          </a:p>
        </p:txBody>
      </p:sp>
      <p:sp>
        <p:nvSpPr>
          <p:cNvPr id="17" name="num"/>
          <p:cNvSpPr/>
          <p:nvPr/>
        </p:nvSpPr>
        <p:spPr>
          <a:xfrm>
            <a:off x="5029200" y="352044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474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사거리에서 다음 사거리까지가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 block이에요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block은 이렇게 세어요</a:t>
            </a:r>
            <a:endParaRPr lang="en-US" sz="2800" dirty="0"/>
          </a:p>
        </p:txBody>
      </p:sp>
      <p:sp>
        <p:nvSpPr>
          <p:cNvPr id="3" name="roads"/>
          <p:cNvSpPr/>
          <p:nvPr/>
        </p:nvSpPr>
        <p:spPr>
          <a:xfrm>
            <a:off x="4114800" y="1143000"/>
            <a:ext cx="4572000" cy="3310128"/>
          </a:xfrm>
          <a:prstGeom prst="roundRect">
            <a:avLst>
              <a:gd name="adj" fmla="val 2762"/>
            </a:avLst>
          </a:prstGeom>
          <a:solidFill>
            <a:schemeClr val="accent4"/>
          </a:solidFill>
          <a:ln/>
        </p:spPr>
      </p:sp>
      <p:sp>
        <p:nvSpPr>
          <p:cNvPr id="4" name="block 0,0"/>
          <p:cNvSpPr/>
          <p:nvPr/>
        </p:nvSpPr>
        <p:spPr>
          <a:xfrm>
            <a:off x="4407408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block 1,0"/>
          <p:cNvSpPr/>
          <p:nvPr/>
        </p:nvSpPr>
        <p:spPr>
          <a:xfrm>
            <a:off x="5477256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block 2,0"/>
          <p:cNvSpPr/>
          <p:nvPr/>
        </p:nvSpPr>
        <p:spPr>
          <a:xfrm>
            <a:off x="6547104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block 3,0"/>
          <p:cNvSpPr/>
          <p:nvPr/>
        </p:nvSpPr>
        <p:spPr>
          <a:xfrm>
            <a:off x="7616952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block 0,1"/>
          <p:cNvSpPr/>
          <p:nvPr/>
        </p:nvSpPr>
        <p:spPr>
          <a:xfrm>
            <a:off x="4407408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block 1,1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block 2,1"/>
          <p:cNvSpPr/>
          <p:nvPr/>
        </p:nvSpPr>
        <p:spPr>
          <a:xfrm>
            <a:off x="6547104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block 3,1"/>
          <p:cNvSpPr/>
          <p:nvPr/>
        </p:nvSpPr>
        <p:spPr>
          <a:xfrm>
            <a:off x="7616952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block 0,2"/>
          <p:cNvSpPr/>
          <p:nvPr/>
        </p:nvSpPr>
        <p:spPr>
          <a:xfrm>
            <a:off x="4407408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block 1,2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block 2,2"/>
          <p:cNvSpPr/>
          <p:nvPr/>
        </p:nvSpPr>
        <p:spPr>
          <a:xfrm>
            <a:off x="6547104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block 3,2"/>
          <p:cNvSpPr/>
          <p:nvPr/>
        </p:nvSpPr>
        <p:spPr>
          <a:xfrm>
            <a:off x="7616952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mark 1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mark 2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mark ★"/>
          <p:cNvSpPr/>
          <p:nvPr/>
        </p:nvSpPr>
        <p:spPr>
          <a:xfrm>
            <a:off x="6547104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★</a:t>
            </a:r>
            <a:endParaRPr lang="en-US" sz="2200" dirty="0"/>
          </a:p>
        </p:txBody>
      </p:sp>
      <p:sp>
        <p:nvSpPr>
          <p:cNvPr id="19" name="route"/>
          <p:cNvSpPr/>
          <p:nvPr/>
        </p:nvSpPr>
        <p:spPr>
          <a:xfrm>
            <a:off x="6400800" y="2295144"/>
            <a:ext cx="0" cy="1810512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20" name="route"/>
          <p:cNvSpPr/>
          <p:nvPr/>
        </p:nvSpPr>
        <p:spPr>
          <a:xfrm>
            <a:off x="6400800" y="2295144"/>
            <a:ext cx="534924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tart"/>
          <p:cNvSpPr/>
          <p:nvPr/>
        </p:nvSpPr>
        <p:spPr>
          <a:xfrm>
            <a:off x="6126480" y="4105656"/>
            <a:ext cx="548640" cy="40233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출발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57200" y="114300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1234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Go straight two blocks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 turn right.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It’s on your left.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두 블록 직진하고 오른쪽으로 도세요.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왼편에 있어요.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사거리를 하나 지날 때마다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 block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block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/ two block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14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2개부터는 s를 붙여요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우리 동네에서 block을 세어 볼까요?</a:t>
            </a:r>
            <a:endParaRPr lang="en-US" sz="2800" dirty="0"/>
          </a:p>
        </p:txBody>
      </p:sp>
      <p:pic>
        <p:nvPicPr>
          <p:cNvPr id="3" name="map2" descr="/tmp/claude-0/-home-claude/b613c36a-8715-5aae-a973-8ccf6c9c2cbb/scratchpad/blk/medi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394960" cy="32918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1B2A41">
                <a:alpha val="12000"/>
              </a:srgbClr>
            </a:outerShdw>
          </a:effectLst>
        </p:spPr>
      </p:pic>
      <p:sp>
        <p:nvSpPr>
          <p:cNvPr id="4" name="card"/>
          <p:cNvSpPr/>
          <p:nvPr/>
        </p:nvSpPr>
        <p:spPr>
          <a:xfrm>
            <a:off x="6126480" y="1143000"/>
            <a:ext cx="2560320" cy="32918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3093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불광역 → 어울초등학교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783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사거리를 몇 번 지나야 할까요?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영어로 안내해 봐요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971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 straight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___ blocks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and turn ______.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block으로 설명하면?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num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+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좋은 점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누구나 같은 기준으로 설명할 수 있어요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처음 가는 곳에서도 길을 찾기 쉬워요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4663440" y="1280160"/>
            <a:ext cx="40233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8" name="num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아쉬운 점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2860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시골처럼 길이 반듯하지 않은 곳에서는 쓰기 어려워요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모든 나라가 쓰는 방법은 아니에요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Quiz! 어디일까요?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33832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Go straight one block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 turn left.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It’s on your right.</a:t>
            </a:r>
            <a:endParaRPr lang="en-US" sz="1700" dirty="0"/>
          </a:p>
        </p:txBody>
      </p:sp>
      <p:sp>
        <p:nvSpPr>
          <p:cNvPr id="5" name="roads"/>
          <p:cNvSpPr/>
          <p:nvPr/>
        </p:nvSpPr>
        <p:spPr>
          <a:xfrm>
            <a:off x="4114800" y="1143000"/>
            <a:ext cx="4572000" cy="3310128"/>
          </a:xfrm>
          <a:prstGeom prst="roundRect">
            <a:avLst>
              <a:gd name="adj" fmla="val 2762"/>
            </a:avLst>
          </a:prstGeom>
          <a:solidFill>
            <a:schemeClr val="accent4"/>
          </a:solidFill>
          <a:ln/>
        </p:spPr>
      </p:sp>
      <p:sp>
        <p:nvSpPr>
          <p:cNvPr id="6" name="block 0,0"/>
          <p:cNvSpPr/>
          <p:nvPr/>
        </p:nvSpPr>
        <p:spPr>
          <a:xfrm>
            <a:off x="4407408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block 1,0"/>
          <p:cNvSpPr/>
          <p:nvPr/>
        </p:nvSpPr>
        <p:spPr>
          <a:xfrm>
            <a:off x="5477256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block 2,0"/>
          <p:cNvSpPr/>
          <p:nvPr/>
        </p:nvSpPr>
        <p:spPr>
          <a:xfrm>
            <a:off x="6547104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block 3,0"/>
          <p:cNvSpPr/>
          <p:nvPr/>
        </p:nvSpPr>
        <p:spPr>
          <a:xfrm>
            <a:off x="7616952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block 0,1"/>
          <p:cNvSpPr/>
          <p:nvPr/>
        </p:nvSpPr>
        <p:spPr>
          <a:xfrm>
            <a:off x="4407408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block 1,1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block 2,1"/>
          <p:cNvSpPr/>
          <p:nvPr/>
        </p:nvSpPr>
        <p:spPr>
          <a:xfrm>
            <a:off x="6547104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block 3,1"/>
          <p:cNvSpPr/>
          <p:nvPr/>
        </p:nvSpPr>
        <p:spPr>
          <a:xfrm>
            <a:off x="7616952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block 0,2"/>
          <p:cNvSpPr/>
          <p:nvPr/>
        </p:nvSpPr>
        <p:spPr>
          <a:xfrm>
            <a:off x="4407408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block 1,2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block 2,2"/>
          <p:cNvSpPr/>
          <p:nvPr/>
        </p:nvSpPr>
        <p:spPr>
          <a:xfrm>
            <a:off x="6547104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block 3,2"/>
          <p:cNvSpPr/>
          <p:nvPr/>
        </p:nvSpPr>
        <p:spPr>
          <a:xfrm>
            <a:off x="7616952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mark ①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①</a:t>
            </a:r>
            <a:endParaRPr lang="en-US" sz="2200" dirty="0"/>
          </a:p>
        </p:txBody>
      </p:sp>
      <p:sp>
        <p:nvSpPr>
          <p:cNvPr id="19" name="mark ②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②</a:t>
            </a:r>
            <a:endParaRPr lang="en-US" sz="2200" dirty="0"/>
          </a:p>
        </p:txBody>
      </p:sp>
      <p:sp>
        <p:nvSpPr>
          <p:cNvPr id="20" name="mark ③"/>
          <p:cNvSpPr/>
          <p:nvPr/>
        </p:nvSpPr>
        <p:spPr>
          <a:xfrm>
            <a:off x="6547104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834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출발에서부터 손가락으로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길을 따라가 보세요.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57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①, ②, ③ 중 어디일까요?</a:t>
            </a:r>
            <a:endParaRPr lang="en-US" sz="1800" dirty="0"/>
          </a:p>
        </p:txBody>
      </p:sp>
      <p:sp>
        <p:nvSpPr>
          <p:cNvPr id="23" name="start"/>
          <p:cNvSpPr/>
          <p:nvPr/>
        </p:nvSpPr>
        <p:spPr>
          <a:xfrm>
            <a:off x="6126480" y="4105656"/>
            <a:ext cx="548640" cy="40233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출발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정답을 확인해요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338328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Go straight one block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 turn left.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It’s on your right.</a:t>
            </a:r>
            <a:endParaRPr lang="en-US" sz="1700" dirty="0"/>
          </a:p>
        </p:txBody>
      </p:sp>
      <p:sp>
        <p:nvSpPr>
          <p:cNvPr id="5" name="roads"/>
          <p:cNvSpPr/>
          <p:nvPr/>
        </p:nvSpPr>
        <p:spPr>
          <a:xfrm>
            <a:off x="4114800" y="1143000"/>
            <a:ext cx="4572000" cy="3310128"/>
          </a:xfrm>
          <a:prstGeom prst="roundRect">
            <a:avLst>
              <a:gd name="adj" fmla="val 2762"/>
            </a:avLst>
          </a:prstGeom>
          <a:solidFill>
            <a:schemeClr val="accent4"/>
          </a:solidFill>
          <a:ln/>
        </p:spPr>
      </p:sp>
      <p:sp>
        <p:nvSpPr>
          <p:cNvPr id="6" name="block 0,0"/>
          <p:cNvSpPr/>
          <p:nvPr/>
        </p:nvSpPr>
        <p:spPr>
          <a:xfrm>
            <a:off x="4407408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block 1,0"/>
          <p:cNvSpPr/>
          <p:nvPr/>
        </p:nvSpPr>
        <p:spPr>
          <a:xfrm>
            <a:off x="5477256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block 2,0"/>
          <p:cNvSpPr/>
          <p:nvPr/>
        </p:nvSpPr>
        <p:spPr>
          <a:xfrm>
            <a:off x="6547104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block 3,0"/>
          <p:cNvSpPr/>
          <p:nvPr/>
        </p:nvSpPr>
        <p:spPr>
          <a:xfrm>
            <a:off x="7616952" y="143560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block 0,1"/>
          <p:cNvSpPr/>
          <p:nvPr/>
        </p:nvSpPr>
        <p:spPr>
          <a:xfrm>
            <a:off x="4407408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block 1,1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block 2,1"/>
          <p:cNvSpPr/>
          <p:nvPr/>
        </p:nvSpPr>
        <p:spPr>
          <a:xfrm>
            <a:off x="6547104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block 3,1"/>
          <p:cNvSpPr/>
          <p:nvPr/>
        </p:nvSpPr>
        <p:spPr>
          <a:xfrm>
            <a:off x="7616952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block 0,2"/>
          <p:cNvSpPr/>
          <p:nvPr/>
        </p:nvSpPr>
        <p:spPr>
          <a:xfrm>
            <a:off x="4407408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block 1,2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block 2,2"/>
          <p:cNvSpPr/>
          <p:nvPr/>
        </p:nvSpPr>
        <p:spPr>
          <a:xfrm>
            <a:off x="6547104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7" name="block 3,2"/>
          <p:cNvSpPr/>
          <p:nvPr/>
        </p:nvSpPr>
        <p:spPr>
          <a:xfrm>
            <a:off x="7616952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mark ①"/>
          <p:cNvSpPr/>
          <p:nvPr/>
        </p:nvSpPr>
        <p:spPr>
          <a:xfrm>
            <a:off x="5477256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①</a:t>
            </a:r>
            <a:endParaRPr lang="en-US" sz="2200" dirty="0"/>
          </a:p>
        </p:txBody>
      </p:sp>
      <p:sp>
        <p:nvSpPr>
          <p:cNvPr id="19" name="mark ②"/>
          <p:cNvSpPr/>
          <p:nvPr/>
        </p:nvSpPr>
        <p:spPr>
          <a:xfrm>
            <a:off x="5477256" y="344728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②</a:t>
            </a:r>
            <a:endParaRPr lang="en-US" sz="2200" dirty="0"/>
          </a:p>
        </p:txBody>
      </p:sp>
      <p:sp>
        <p:nvSpPr>
          <p:cNvPr id="20" name="mark ③"/>
          <p:cNvSpPr/>
          <p:nvPr/>
        </p:nvSpPr>
        <p:spPr>
          <a:xfrm>
            <a:off x="6547104" y="2441448"/>
            <a:ext cx="777240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route"/>
          <p:cNvSpPr/>
          <p:nvPr/>
        </p:nvSpPr>
        <p:spPr>
          <a:xfrm>
            <a:off x="6400800" y="3300984"/>
            <a:ext cx="0" cy="804672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</a:ln>
        </p:spPr>
      </p:sp>
      <p:sp>
        <p:nvSpPr>
          <p:cNvPr id="22" name="route"/>
          <p:cNvSpPr/>
          <p:nvPr/>
        </p:nvSpPr>
        <p:spPr>
          <a:xfrm>
            <a:off x="5865876" y="3300984"/>
            <a:ext cx="534924" cy="0"/>
          </a:xfrm>
          <a:prstGeom prst="line">
            <a:avLst/>
          </a:prstGeom>
          <a:noFill/>
          <a:ln w="635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정답: </a:t>
            </a:r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①</a:t>
            </a:r>
            <a:endParaRPr lang="en-US" sz="2200" dirty="0"/>
          </a:p>
        </p:txBody>
      </p:sp>
      <p:sp>
        <p:nvSpPr>
          <p:cNvPr id="24" name="num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한 블록 직진해요</a:t>
            </a:r>
            <a:endParaRPr lang="en-US" sz="1500" dirty="0"/>
          </a:p>
        </p:txBody>
      </p:sp>
      <p:sp>
        <p:nvSpPr>
          <p:cNvPr id="26" name="num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왼쪽으로 돌아요</a:t>
            </a:r>
            <a:endParaRPr lang="en-US" sz="1500" dirty="0"/>
          </a:p>
        </p:txBody>
      </p:sp>
      <p:sp>
        <p:nvSpPr>
          <p:cNvPr id="28" name="num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오른편에 있어요!</a:t>
            </a:r>
            <a:endParaRPr lang="en-US" sz="1500" dirty="0"/>
          </a:p>
        </p:txBody>
      </p:sp>
      <p:sp>
        <p:nvSpPr>
          <p:cNvPr id="30" name="start"/>
          <p:cNvSpPr/>
          <p:nvPr/>
        </p:nvSpPr>
        <p:spPr>
          <a:xfrm>
            <a:off x="6126480" y="4105656"/>
            <a:ext cx="548640" cy="40233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출발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y Blocks">
  <a:themeElements>
    <a:clrScheme name="City Blocks">
      <a:dk1>
        <a:srgbClr val="1B2A41"/>
      </a:dk1>
      <a:lt1>
        <a:srgbClr val="FFFFFF"/>
      </a:lt1>
      <a:dk2>
        <a:srgbClr val="4A5A70"/>
      </a:dk2>
      <a:lt2>
        <a:srgbClr val="EEF2F6"/>
      </a:lt2>
      <a:accent1>
        <a:srgbClr val="F2B33D"/>
      </a:accent1>
      <a:accent2>
        <a:srgbClr val="E4572E"/>
      </a:accent2>
      <a:accent3>
        <a:srgbClr val="3A7CA5"/>
      </a:accent3>
      <a:accent4>
        <a:srgbClr val="C9D3DE"/>
      </a:accent4>
      <a:accent5>
        <a:srgbClr val="2E8B57"/>
      </a:accent5>
      <a:accent6>
        <a:srgbClr val="7A869A"/>
      </a:accent6>
      <a:hlink>
        <a:srgbClr val="3A7CA5"/>
      </a:hlink>
      <a:folHlink>
        <a:srgbClr val="7A869A"/>
      </a:folHlink>
    </a:clrScheme>
    <a:fontScheme name="City Block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개념 알아보기</dc:title>
  <dc:subject>PptxGenJS Presentation</dc:subject>
  <dc:creator>PptxGenJS</dc:creator>
  <cp:lastModifiedBy>PptxGenJS</cp:lastModifiedBy>
  <cp:revision>1</cp:revision>
  <dcterms:created xsi:type="dcterms:W3CDTF">2026-10-21T05:19:35Z</dcterms:created>
  <dcterms:modified xsi:type="dcterms:W3CDTF">2026-10-21T05:19:35Z</dcterms:modified>
</cp:coreProperties>
</file>